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4624a12b084685" /><Relationship Type="http://schemas.openxmlformats.org/officeDocument/2006/relationships/extended-properties" Target="/docProps/app.xml" Id="Rdd53135f562046fc" /><Relationship Type="http://schemas.openxmlformats.org/officeDocument/2006/relationships/officeDocument" Target="/ppt/presentation.xml" Id="R22ed456ed41a4e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592c23debf43cc"/>
  </p:sldMasterIdLst>
  <p:notesMasterIdLst>
    <p:notesMasterId xmlns:r="http://schemas.openxmlformats.org/officeDocument/2006/relationships" r:id="R8aaa975c42764d34"/>
  </p:notesMasterIdLst>
  <p:sldIdLst>
    <p:sldId xmlns:r="http://schemas.openxmlformats.org/officeDocument/2006/relationships" id="256" r:id="R7ea27e6815d64e17"/>
    <p:sldId xmlns:r="http://schemas.openxmlformats.org/officeDocument/2006/relationships" id="257" r:id="Rfffc955d169541cb"/>
    <p:sldId xmlns:r="http://schemas.openxmlformats.org/officeDocument/2006/relationships" id="258" r:id="R336e2b54c268423b"/>
    <p:sldId xmlns:r="http://schemas.openxmlformats.org/officeDocument/2006/relationships" id="259" r:id="Re0b6f1846c804802"/>
    <p:sldId xmlns:r="http://schemas.openxmlformats.org/officeDocument/2006/relationships" id="260" r:id="R257ea9d5b7d5421b"/>
    <p:sldId xmlns:r="http://schemas.openxmlformats.org/officeDocument/2006/relationships" id="261" r:id="Rdfbf5241d55a4b0a"/>
    <p:sldId xmlns:r="http://schemas.openxmlformats.org/officeDocument/2006/relationships" id="262" r:id="R2427e26bee3f4f45"/>
    <p:sldId xmlns:r="http://schemas.openxmlformats.org/officeDocument/2006/relationships" id="263" r:id="R0094b7492ec94e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c4943476174f48" /><Relationship Type="http://schemas.openxmlformats.org/officeDocument/2006/relationships/slideMaster" Target="/ppt/slideMasters/slideMaster1.xml" Id="R5d592c23debf43cc" /><Relationship Type="http://schemas.openxmlformats.org/officeDocument/2006/relationships/notesMaster" Target="/ppt/notesMasters/notesMaster1.xml" Id="R8aaa975c42764d34" /><Relationship Type="http://schemas.openxmlformats.org/officeDocument/2006/relationships/presProps" Target="/ppt/presProps.xml" Id="Re137403a155e4722" /><Relationship Type="http://schemas.openxmlformats.org/officeDocument/2006/relationships/tableStyles" Target="/ppt/tableStyles.xml" Id="R9f0574b189834f07" /><Relationship Type="http://schemas.openxmlformats.org/officeDocument/2006/relationships/slide" Target="/ppt/slides/slide1.xml" Id="R7ea27e6815d64e17" /><Relationship Type="http://schemas.openxmlformats.org/officeDocument/2006/relationships/slide" Target="/ppt/slides/slide2.xml" Id="Rfffc955d169541cb" /><Relationship Type="http://schemas.openxmlformats.org/officeDocument/2006/relationships/slide" Target="/ppt/slides/slide3.xml" Id="R336e2b54c268423b" /><Relationship Type="http://schemas.openxmlformats.org/officeDocument/2006/relationships/slide" Target="/ppt/slides/slide4.xml" Id="Re0b6f1846c804802" /><Relationship Type="http://schemas.openxmlformats.org/officeDocument/2006/relationships/slide" Target="/ppt/slides/slide5.xml" Id="R257ea9d5b7d5421b" /><Relationship Type="http://schemas.openxmlformats.org/officeDocument/2006/relationships/slide" Target="/ppt/slides/slide6.xml" Id="Rdfbf5241d55a4b0a" /><Relationship Type="http://schemas.openxmlformats.org/officeDocument/2006/relationships/slide" Target="/ppt/slides/slide7.xml" Id="R2427e26bee3f4f45" /><Relationship Type="http://schemas.openxmlformats.org/officeDocument/2006/relationships/slide" Target="/ppt/slides/slide8.xml" Id="R0094b7492ec94e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61675dd3bd49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d5ddab3f904130" /><Relationship Type="http://schemas.openxmlformats.org/officeDocument/2006/relationships/notesMaster" Target="/ppt/notesMasters/notesMaster1.xml" Id="Rc15290abadd349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983959fcab4911" /><Relationship Type="http://schemas.openxmlformats.org/officeDocument/2006/relationships/notesMaster" Target="/ppt/notesMasters/notesMaster1.xml" Id="R39fb91fe6a0b4f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cc0a6f2d5f413f" /><Relationship Type="http://schemas.openxmlformats.org/officeDocument/2006/relationships/notesMaster" Target="/ppt/notesMasters/notesMaster1.xml" Id="R46de3a7e8b6741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95ad478c8d4105" /><Relationship Type="http://schemas.openxmlformats.org/officeDocument/2006/relationships/notesMaster" Target="/ppt/notesMasters/notesMaster1.xml" Id="R54015cc86d7a43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e13aee968b44a3" /><Relationship Type="http://schemas.openxmlformats.org/officeDocument/2006/relationships/notesMaster" Target="/ppt/notesMasters/notesMaster1.xml" Id="R9f71c67194a44d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6678a25c814bbb" /><Relationship Type="http://schemas.openxmlformats.org/officeDocument/2006/relationships/notesMaster" Target="/ppt/notesMasters/notesMaster1.xml" Id="Rbd276e6aaf124e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7c24df6dc44984" /><Relationship Type="http://schemas.openxmlformats.org/officeDocument/2006/relationships/notesMaster" Target="/ppt/notesMasters/notesMaster1.xml" Id="R711bb478b18f41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e06d5a498b462c" /><Relationship Type="http://schemas.openxmlformats.org/officeDocument/2006/relationships/notesMaster" Target="/ppt/notesMasters/notesMaster1.xml" Id="R0d021ff78cc749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https://github.com/MarshallBear1/juno-open-health-tools (accessed 2026-08-01)</a:t>
            </a:r>
          </a:p>
          <a:p xmlns:a="http://schemas.openxmlformats.org/drawingml/2006/main">
            <a:r>
              <a:t>- https://doi.org/10.5281/zenodo.21729519 (accessed 2026-08-01)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https://github.com/MarshallBear1/juno-open-health-tools (accessed 2026-08-01)</a:t>
            </a:r>
          </a:p>
          <a:p xmlns:a="http://schemas.openxmlformats.org/drawingml/2006/main">
            <a:r>
              <a:t>- https://doi.org/10.5281/zenodo.21729519 (accessed 2026-08-01)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https://github.com/MarshallBear1/juno-open-health-tools (accessed 2026-08-01)</a:t>
            </a:r>
          </a:p>
          <a:p xmlns:a="http://schemas.openxmlformats.org/drawingml/2006/main">
            <a:r>
              <a:t>- https://doi.org/10.5281/zenodo.21729519 (accessed 2026-08-01)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https://github.com/MarshallBear1/juno-open-health-tools (accessed 2026-08-01)</a:t>
            </a:r>
          </a:p>
          <a:p xmlns:a="http://schemas.openxmlformats.org/drawingml/2006/main">
            <a:r>
              <a:t>- https://doi.org/10.5281/zenodo.21729519 (accessed 2026-08-01)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https://github.com/MarshallBear1/juno-open-health-tools (accessed 2026-08-01)</a:t>
            </a:r>
          </a:p>
          <a:p xmlns:a="http://schemas.openxmlformats.org/drawingml/2006/main">
            <a:r>
              <a:t>- https://doi.org/10.5281/zenodo.21729519 (accessed 2026-08-01)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https://github.com/MarshallBear1/juno-open-health-tools (accessed 2026-08-01)</a:t>
            </a:r>
          </a:p>
          <a:p xmlns:a="http://schemas.openxmlformats.org/drawingml/2006/main">
            <a:r>
              <a:t>- https://doi.org/10.5281/zenodo.21729519 (accessed 2026-08-01)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https://github.com/MarshallBear1/juno-open-health-tools (accessed 2026-08-01)</a:t>
            </a:r>
          </a:p>
          <a:p xmlns:a="http://schemas.openxmlformats.org/drawingml/2006/main">
            <a:r>
              <a:t>- https://doi.org/10.5281/zenodo.21729519 (accessed 2026-08-01)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https://github.com/MarshallBear1/juno-open-health-tools (accessed 2026-08-01)</a:t>
            </a:r>
          </a:p>
          <a:p xmlns:a="http://schemas.openxmlformats.org/drawingml/2006/main">
            <a:r>
              <a:t>- https://doi.org/10.5281/zenodo.21729519 (accessed 2026-08-01)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c522b4518c47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b5948ce68c4d28" /><Relationship Type="http://schemas.openxmlformats.org/officeDocument/2006/relationships/slideLayout" Target="/ppt/slideLayouts/slideLayout1.xml" Id="R3f81d96b03bf45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81d96b03bf45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c699b820e48bc" /><Relationship Type="http://schemas.openxmlformats.org/officeDocument/2006/relationships/notesSlide" Target="/ppt/notesSlides/notesSlide1.xml" Id="R39e519c1894d4c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fd8184e4541c8" /><Relationship Type="http://schemas.openxmlformats.org/officeDocument/2006/relationships/notesSlide" Target="/ppt/notesSlides/notesSlide2.xml" Id="Ra31cbed6abd247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9102060a04d80" /><Relationship Type="http://schemas.openxmlformats.org/officeDocument/2006/relationships/notesSlide" Target="/ppt/notesSlides/notesSlide3.xml" Id="R55d0743907624f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bcf7ecc964f04" /><Relationship Type="http://schemas.openxmlformats.org/officeDocument/2006/relationships/notesSlide" Target="/ppt/notesSlides/notesSlide4.xml" Id="R4b2ecd966a2c4d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9862b6b604f97" /><Relationship Type="http://schemas.openxmlformats.org/officeDocument/2006/relationships/notesSlide" Target="/ppt/notesSlides/notesSlide5.xml" Id="R9facdd39a9ea44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31ecbf6064e14" /><Relationship Type="http://schemas.openxmlformats.org/officeDocument/2006/relationships/notesSlide" Target="/ppt/notesSlides/notesSlide6.xml" Id="Rb66506e52e2344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0b9d327cb486c" /><Relationship Type="http://schemas.openxmlformats.org/officeDocument/2006/relationships/notesSlide" Target="/ppt/notesSlides/notesSlide7.xml" Id="R336e5be72f2d4d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3512b82c44cc7" /><Relationship Type="http://schemas.openxmlformats.org/officeDocument/2006/relationships/notesSlide" Target="/ppt/notesSlides/notesSlide8.xml" Id="Re1664b5b4b104a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36E06343-2DDD-4C10-8987-CFE909F8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JUNO OPEN HEALTH TOOLS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640079E-1672-4EF8-B86A-49A07ED0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8001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Appointment</a:t>
            </a:r>
          </a:p>
          <a:p xmlns:a="http://schemas.openxmlformats.org/drawingml/2006/main">
            <a:pPr algn="l">
              <a:defRPr sz="5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prep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A4AEA4C-BEF3-4852-B7EB-B07298FB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clearer way to carry your health story into the room.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ABF31857-A58F-45BF-ABCB-49909B7A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885950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5" name="cover-note">
            <a:extLst xmlns:a="http://schemas.openxmlformats.org/drawingml/2006/main">
              <a:ext uri="{FF2B5EF4-FFF2-40B4-BE49-F238E27FC236}">
                <a16:creationId xmlns:a16="http://schemas.microsoft.com/office/drawing/2014/main" id="{80396564-0E91-47E7-9F1F-B05F641B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514850"/>
            <a:ext cx="15621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Editable in Canva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Private by default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Non-diagnostic</a:t>
            </a:r>
          </a:p>
        </p:txBody>
      </p:sp>
      <p:sp>
        <p:nvSpPr>
          <p:cNvPr id="6" name="page-01">
            <a:extLst xmlns:a="http://schemas.openxmlformats.org/drawingml/2006/main">
              <a:ext uri="{FF2B5EF4-FFF2-40B4-BE49-F238E27FC236}">
                <a16:creationId xmlns:a16="http://schemas.microsoft.com/office/drawing/2014/main" id="{B507E914-6CEC-478A-829E-373091C2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902332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">
            <a:extLst xmlns:a="http://schemas.openxmlformats.org/drawingml/2006/main">
              <a:ext uri="{FF2B5EF4-FFF2-40B4-BE49-F238E27FC236}">
                <a16:creationId xmlns:a16="http://schemas.microsoft.com/office/drawing/2014/main" id="{F8166E48-4DC5-4538-911B-756F6C33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Start with one goal</a:t>
            </a:r>
          </a:p>
        </p:txBody>
      </p:sp>
      <p:sp>
        <p:nvSpPr>
          <p:cNvPr id="2" name="subtitle-2">
            <a:extLst xmlns:a="http://schemas.openxmlformats.org/drawingml/2006/main">
              <a:ext uri="{FF2B5EF4-FFF2-40B4-BE49-F238E27FC236}">
                <a16:creationId xmlns:a16="http://schemas.microsoft.com/office/drawing/2014/main" id="{6025F0A0-7DFF-440D-B6B1-333EACAA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9675"/>
            <a:ext cx="1083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A short appointment works better when you decide what matters most before it begins.</a:t>
            </a:r>
          </a:p>
        </p:txBody>
      </p:sp>
      <p:sp>
        <p:nvSpPr>
          <p:cNvPr id="3" name="eyebrow-2">
            <a:extLst xmlns:a="http://schemas.openxmlformats.org/drawingml/2006/main">
              <a:ext uri="{FF2B5EF4-FFF2-40B4-BE49-F238E27FC236}">
                <a16:creationId xmlns:a16="http://schemas.microsoft.com/office/drawing/2014/main" id="{F92AA352-DD2E-4B71-8B1B-A3E48258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JUNO OPEN HEALTH TOOLS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63BBC835-AE18-483D-BD61-0454473A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goal-divider">
            <a:extLst xmlns:a="http://schemas.openxmlformats.org/drawingml/2006/main">
              <a:ext uri="{FF2B5EF4-FFF2-40B4-BE49-F238E27FC236}">
                <a16:creationId xmlns:a16="http://schemas.microsoft.com/office/drawing/2014/main" id="{6CCC5076-8F0A-48B7-BF51-ED1DFC17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288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goal-left-heading">
            <a:extLst xmlns:a="http://schemas.openxmlformats.org/drawingml/2006/main">
              <a:ext uri="{FF2B5EF4-FFF2-40B4-BE49-F238E27FC236}">
                <a16:creationId xmlns:a16="http://schemas.microsoft.com/office/drawing/2014/main" id="{60D60D55-1C1E-49FE-A254-EB5DC1A3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Appointment at a glance</a:t>
            </a:r>
          </a:p>
        </p:txBody>
      </p:sp>
      <p:sp>
        <p:nvSpPr>
          <p:cNvPr id="7" name="goal-field-label-1">
            <a:extLst xmlns:a="http://schemas.openxmlformats.org/drawingml/2006/main">
              <a:ext uri="{FF2B5EF4-FFF2-40B4-BE49-F238E27FC236}">
                <a16:creationId xmlns:a16="http://schemas.microsoft.com/office/drawing/2014/main" id="{7BA2665E-2C47-4064-9CB4-C1BF9A1B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Date and time</a:t>
            </a:r>
          </a:p>
        </p:txBody>
      </p:sp>
      <p:sp>
        <p:nvSpPr>
          <p:cNvPr id="8" name="goal-field-line-1">
            <a:extLst xmlns:a="http://schemas.openxmlformats.org/drawingml/2006/main">
              <a:ext uri="{FF2B5EF4-FFF2-40B4-BE49-F238E27FC236}">
                <a16:creationId xmlns:a16="http://schemas.microsoft.com/office/drawing/2014/main" id="{E928DFA1-C03B-40D8-99D4-1F279825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7182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" name="goal-field-label-2">
            <a:extLst xmlns:a="http://schemas.openxmlformats.org/drawingml/2006/main">
              <a:ext uri="{FF2B5EF4-FFF2-40B4-BE49-F238E27FC236}">
                <a16:creationId xmlns:a16="http://schemas.microsoft.com/office/drawing/2014/main" id="{FCF2D0C8-D31D-4053-B731-F0FAA308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Clinician or service</a:t>
            </a:r>
          </a:p>
        </p:txBody>
      </p:sp>
      <p:sp>
        <p:nvSpPr>
          <p:cNvPr id="10" name="goal-field-line-2">
            <a:extLst xmlns:a="http://schemas.openxmlformats.org/drawingml/2006/main">
              <a:ext uri="{FF2B5EF4-FFF2-40B4-BE49-F238E27FC236}">
                <a16:creationId xmlns:a16="http://schemas.microsoft.com/office/drawing/2014/main" id="{C25FAF7B-CB4B-47FA-9221-CF7E1204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957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1" name="goal-field-label-3">
            <a:extLst xmlns:a="http://schemas.openxmlformats.org/drawingml/2006/main">
              <a:ext uri="{FF2B5EF4-FFF2-40B4-BE49-F238E27FC236}">
                <a16:creationId xmlns:a16="http://schemas.microsoft.com/office/drawing/2014/main" id="{30C42D8E-F829-497A-9E1F-EC4745D6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43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One thing I most want from this visit</a:t>
            </a:r>
          </a:p>
        </p:txBody>
      </p:sp>
      <p:sp>
        <p:nvSpPr>
          <p:cNvPr id="12" name="goal-field-line-3">
            <a:extLst xmlns:a="http://schemas.openxmlformats.org/drawingml/2006/main">
              <a:ext uri="{FF2B5EF4-FFF2-40B4-BE49-F238E27FC236}">
                <a16:creationId xmlns:a16="http://schemas.microsoft.com/office/drawing/2014/main" id="{632D5F9D-5DD5-4D3C-B531-7DA7730C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6732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3" name="goal-right-heading">
            <a:extLst xmlns:a="http://schemas.openxmlformats.org/drawingml/2006/main">
              <a:ext uri="{FF2B5EF4-FFF2-40B4-BE49-F238E27FC236}">
                <a16:creationId xmlns:a16="http://schemas.microsoft.com/office/drawing/2014/main" id="{946A91E0-2BFD-442F-AEB3-9BE6C144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621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Three useful prompts</a:t>
            </a:r>
          </a:p>
        </p:txBody>
      </p:sp>
      <p:sp>
        <p:nvSpPr>
          <p:cNvPr id="14" name="goal-prompt-number-1">
            <a:extLst xmlns:a="http://schemas.openxmlformats.org/drawingml/2006/main">
              <a:ext uri="{FF2B5EF4-FFF2-40B4-BE49-F238E27FC236}">
                <a16:creationId xmlns:a16="http://schemas.microsoft.com/office/drawing/2014/main" id="{9A0FD227-119F-44B5-BC5D-ECC34E54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47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15" name="goal-prompt-number-text-1">
            <a:extLst xmlns:a="http://schemas.openxmlformats.org/drawingml/2006/main">
              <a:ext uri="{FF2B5EF4-FFF2-40B4-BE49-F238E27FC236}">
                <a16:creationId xmlns:a16="http://schemas.microsoft.com/office/drawing/2014/main" id="{29F7911A-E8F8-4C4E-B827-D04A7D26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955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goal-prompt-1">
            <a:extLst xmlns:a="http://schemas.openxmlformats.org/drawingml/2006/main">
              <a:ext uri="{FF2B5EF4-FFF2-40B4-BE49-F238E27FC236}">
                <a16:creationId xmlns:a16="http://schemas.microsoft.com/office/drawing/2014/main" id="{B01B862B-4667-4665-927C-BD5D53AD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479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has changed since my last visit?</a:t>
            </a:r>
          </a:p>
        </p:txBody>
      </p:sp>
      <p:sp>
        <p:nvSpPr>
          <p:cNvPr id="17" name="goal-prompt-number-2">
            <a:extLst xmlns:a="http://schemas.openxmlformats.org/drawingml/2006/main">
              <a:ext uri="{FF2B5EF4-FFF2-40B4-BE49-F238E27FC236}">
                <a16:creationId xmlns:a16="http://schemas.microsoft.com/office/drawing/2014/main" id="{FC6702CE-4666-4F80-9114-1E752193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95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18" name="goal-prompt-number-text-2">
            <a:extLst xmlns:a="http://schemas.openxmlformats.org/drawingml/2006/main">
              <a:ext uri="{FF2B5EF4-FFF2-40B4-BE49-F238E27FC236}">
                <a16:creationId xmlns:a16="http://schemas.microsoft.com/office/drawing/2014/main" id="{CC874B0D-671B-4FC5-BECE-095CC5C9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433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goal-prompt-2">
            <a:extLst xmlns:a="http://schemas.openxmlformats.org/drawingml/2006/main">
              <a:ext uri="{FF2B5EF4-FFF2-40B4-BE49-F238E27FC236}">
                <a16:creationId xmlns:a16="http://schemas.microsoft.com/office/drawing/2014/main" id="{0BDD335D-7391-4E14-B186-32946645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957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decision or next step do I need?</a:t>
            </a:r>
          </a:p>
        </p:txBody>
      </p:sp>
      <p:sp>
        <p:nvSpPr>
          <p:cNvPr id="20" name="goal-prompt-number-3">
            <a:extLst xmlns:a="http://schemas.openxmlformats.org/drawingml/2006/main">
              <a:ext uri="{FF2B5EF4-FFF2-40B4-BE49-F238E27FC236}">
                <a16:creationId xmlns:a16="http://schemas.microsoft.com/office/drawing/2014/main" id="{8EBF4A6C-1DD0-436B-BEA0-EDE51927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43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21" name="goal-prompt-number-text-3">
            <a:extLst xmlns:a="http://schemas.openxmlformats.org/drawingml/2006/main">
              <a:ext uri="{FF2B5EF4-FFF2-40B4-BE49-F238E27FC236}">
                <a16:creationId xmlns:a16="http://schemas.microsoft.com/office/drawing/2014/main" id="{CC15D8F5-B22B-48FB-A017-29381F99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910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goal-prompt-3">
            <a:extLst xmlns:a="http://schemas.openxmlformats.org/drawingml/2006/main">
              <a:ext uri="{FF2B5EF4-FFF2-40B4-BE49-F238E27FC236}">
                <a16:creationId xmlns:a16="http://schemas.microsoft.com/office/drawing/2014/main" id="{321B2634-04D4-4828-9996-BC286BCF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7434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am I worried I will forget to say?</a:t>
            </a:r>
          </a:p>
        </p:txBody>
      </p:sp>
    </p:spTree>
    <p:extLst>
      <p:ext uri="{BB962C8B-B14F-4D97-AF65-F5344CB8AC3E}">
        <p14:creationId xmlns:p14="http://schemas.microsoft.com/office/powerpoint/2010/main" val="19313280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-3">
            <a:extLst xmlns:a="http://schemas.openxmlformats.org/drawingml/2006/main">
              <a:ext uri="{FF2B5EF4-FFF2-40B4-BE49-F238E27FC236}">
                <a16:creationId xmlns:a16="http://schemas.microsoft.com/office/drawing/2014/main" id="{D37F1F1A-61FE-488A-A8BD-79853D85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changed since the last visit?</a:t>
            </a:r>
          </a:p>
        </p:txBody>
      </p:sp>
      <p:sp>
        <p:nvSpPr>
          <p:cNvPr id="2" name="subtitle-3">
            <a:extLst xmlns:a="http://schemas.openxmlformats.org/drawingml/2006/main">
              <a:ext uri="{FF2B5EF4-FFF2-40B4-BE49-F238E27FC236}">
                <a16:creationId xmlns:a16="http://schemas.microsoft.com/office/drawing/2014/main" id="{642D45A6-AFEF-4448-BFE7-BE3834F5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9675"/>
            <a:ext cx="1083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Capture observations first. Leave causes and diagnoses for the clinical conversation.</a:t>
            </a:r>
          </a:p>
        </p:txBody>
      </p:sp>
      <p:sp>
        <p:nvSpPr>
          <p:cNvPr id="3" name="eyebrow-3">
            <a:extLst xmlns:a="http://schemas.openxmlformats.org/drawingml/2006/main">
              <a:ext uri="{FF2B5EF4-FFF2-40B4-BE49-F238E27FC236}">
                <a16:creationId xmlns:a16="http://schemas.microsoft.com/office/drawing/2014/main" id="{54DA2477-16AE-4533-88DA-BBB4EEE8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JUNO OPEN HEALTH TOOLS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C89743CB-EC95-4E6F-AAD6-156151DB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change-accent-1">
            <a:extLst xmlns:a="http://schemas.openxmlformats.org/drawingml/2006/main">
              <a:ext uri="{FF2B5EF4-FFF2-40B4-BE49-F238E27FC236}">
                <a16:creationId xmlns:a16="http://schemas.microsoft.com/office/drawing/2014/main" id="{FF354754-F9EB-42BC-A96C-D40388A1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4766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6" name="change-label-1">
            <a:extLst xmlns:a="http://schemas.openxmlformats.org/drawingml/2006/main">
              <a:ext uri="{FF2B5EF4-FFF2-40B4-BE49-F238E27FC236}">
                <a16:creationId xmlns:a16="http://schemas.microsoft.com/office/drawing/2014/main" id="{E99AF9F8-5CF6-4C0C-AA3E-412BF109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New</a:t>
            </a:r>
          </a:p>
        </p:txBody>
      </p:sp>
      <p:sp>
        <p:nvSpPr>
          <p:cNvPr id="7" name="change-hint-1">
            <a:extLst xmlns:a="http://schemas.openxmlformats.org/drawingml/2006/main">
              <a:ext uri="{FF2B5EF4-FFF2-40B4-BE49-F238E27FC236}">
                <a16:creationId xmlns:a16="http://schemas.microsoft.com/office/drawing/2014/main" id="{1E27B192-5821-4146-8105-5BB49A3D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71775"/>
            <a:ext cx="3476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A symptom, limitation, trigger, or concern that was not present before.</a:t>
            </a:r>
          </a:p>
        </p:txBody>
      </p:sp>
      <p:sp>
        <p:nvSpPr>
          <p:cNvPr id="8" name="change-lines-1-1">
            <a:extLst xmlns:a="http://schemas.openxmlformats.org/drawingml/2006/main">
              <a:ext uri="{FF2B5EF4-FFF2-40B4-BE49-F238E27FC236}">
                <a16:creationId xmlns:a16="http://schemas.microsoft.com/office/drawing/2014/main" id="{F0048163-E05A-43A4-896E-F45CCAE1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24325"/>
            <a:ext cx="347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change-lines-1-2">
            <a:extLst xmlns:a="http://schemas.openxmlformats.org/drawingml/2006/main">
              <a:ext uri="{FF2B5EF4-FFF2-40B4-BE49-F238E27FC236}">
                <a16:creationId xmlns:a16="http://schemas.microsoft.com/office/drawing/2014/main" id="{FDBEE3BD-4669-453B-8376-1C338E5E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81525"/>
            <a:ext cx="347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change-lines-1-3">
            <a:extLst xmlns:a="http://schemas.openxmlformats.org/drawingml/2006/main">
              <a:ext uri="{FF2B5EF4-FFF2-40B4-BE49-F238E27FC236}">
                <a16:creationId xmlns:a16="http://schemas.microsoft.com/office/drawing/2014/main" id="{97B0CA07-BF3A-4152-88CA-A27A315F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38725"/>
            <a:ext cx="347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change-lines-1-4">
            <a:extLst xmlns:a="http://schemas.openxmlformats.org/drawingml/2006/main">
              <a:ext uri="{FF2B5EF4-FFF2-40B4-BE49-F238E27FC236}">
                <a16:creationId xmlns:a16="http://schemas.microsoft.com/office/drawing/2014/main" id="{4C712EDA-618C-45F6-8275-77F6777F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95925"/>
            <a:ext cx="347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change-accent-2">
            <a:extLst xmlns:a="http://schemas.openxmlformats.org/drawingml/2006/main">
              <a:ext uri="{FF2B5EF4-FFF2-40B4-BE49-F238E27FC236}">
                <a16:creationId xmlns:a16="http://schemas.microsoft.com/office/drawing/2014/main" id="{4166372A-4414-4340-9E31-1325820E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52625"/>
            <a:ext cx="34766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change-label-2">
            <a:extLst xmlns:a="http://schemas.openxmlformats.org/drawingml/2006/main">
              <a:ext uri="{FF2B5EF4-FFF2-40B4-BE49-F238E27FC236}">
                <a16:creationId xmlns:a16="http://schemas.microsoft.com/office/drawing/2014/main" id="{37F15A85-7449-43CD-B61F-C541D4F5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26695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Worse or more frequent</a:t>
            </a:r>
          </a:p>
        </p:txBody>
      </p:sp>
      <p:sp>
        <p:nvSpPr>
          <p:cNvPr id="14" name="change-hint-2">
            <a:extLst xmlns:a="http://schemas.openxmlformats.org/drawingml/2006/main">
              <a:ext uri="{FF2B5EF4-FFF2-40B4-BE49-F238E27FC236}">
                <a16:creationId xmlns:a16="http://schemas.microsoft.com/office/drawing/2014/main" id="{17B18252-CC8C-4B07-BB98-05DDBFED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71775"/>
            <a:ext cx="3476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Something that became stronger, lasted longer, or happened more often.</a:t>
            </a:r>
          </a:p>
        </p:txBody>
      </p:sp>
      <p:sp>
        <p:nvSpPr>
          <p:cNvPr id="15" name="change-lines-2-1">
            <a:extLst xmlns:a="http://schemas.openxmlformats.org/drawingml/2006/main">
              <a:ext uri="{FF2B5EF4-FFF2-40B4-BE49-F238E27FC236}">
                <a16:creationId xmlns:a16="http://schemas.microsoft.com/office/drawing/2014/main" id="{8ECE4FA8-C996-49CE-8FD8-53892D36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124325"/>
            <a:ext cx="347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change-lines-2-2">
            <a:extLst xmlns:a="http://schemas.openxmlformats.org/drawingml/2006/main">
              <a:ext uri="{FF2B5EF4-FFF2-40B4-BE49-F238E27FC236}">
                <a16:creationId xmlns:a16="http://schemas.microsoft.com/office/drawing/2014/main" id="{D90EC77E-8670-404D-8595-7F5DFD04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581525"/>
            <a:ext cx="347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change-lines-2-3">
            <a:extLst xmlns:a="http://schemas.openxmlformats.org/drawingml/2006/main">
              <a:ext uri="{FF2B5EF4-FFF2-40B4-BE49-F238E27FC236}">
                <a16:creationId xmlns:a16="http://schemas.microsoft.com/office/drawing/2014/main" id="{48FE6FD1-B266-4814-A586-4A574961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038725"/>
            <a:ext cx="347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change-lines-2-4">
            <a:extLst xmlns:a="http://schemas.openxmlformats.org/drawingml/2006/main">
              <a:ext uri="{FF2B5EF4-FFF2-40B4-BE49-F238E27FC236}">
                <a16:creationId xmlns:a16="http://schemas.microsoft.com/office/drawing/2014/main" id="{4EB855F0-F12E-4432-9CB5-7E98AD67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495925"/>
            <a:ext cx="347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change-accent-3">
            <a:extLst xmlns:a="http://schemas.openxmlformats.org/drawingml/2006/main">
              <a:ext uri="{FF2B5EF4-FFF2-40B4-BE49-F238E27FC236}">
                <a16:creationId xmlns:a16="http://schemas.microsoft.com/office/drawing/2014/main" id="{213E381B-C0AD-45A6-A27B-09048525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52625"/>
            <a:ext cx="34766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0" name="change-label-3">
            <a:extLst xmlns:a="http://schemas.openxmlformats.org/drawingml/2006/main">
              <a:ext uri="{FF2B5EF4-FFF2-40B4-BE49-F238E27FC236}">
                <a16:creationId xmlns:a16="http://schemas.microsoft.com/office/drawing/2014/main" id="{94DE13B7-64E3-46F3-9C67-3C16C978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6695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Better or resolved</a:t>
            </a:r>
          </a:p>
        </p:txBody>
      </p:sp>
      <p:sp>
        <p:nvSpPr>
          <p:cNvPr id="21" name="change-hint-3">
            <a:extLst xmlns:a="http://schemas.openxmlformats.org/drawingml/2006/main">
              <a:ext uri="{FF2B5EF4-FFF2-40B4-BE49-F238E27FC236}">
                <a16:creationId xmlns:a16="http://schemas.microsoft.com/office/drawing/2014/main" id="{CFE0A128-B6B6-4FC6-A7B6-66F4548E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71775"/>
            <a:ext cx="3476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Something that eased, stopped, or became more manageable.</a:t>
            </a:r>
          </a:p>
        </p:txBody>
      </p:sp>
      <p:sp>
        <p:nvSpPr>
          <p:cNvPr id="22" name="change-lines-3-1">
            <a:extLst xmlns:a="http://schemas.openxmlformats.org/drawingml/2006/main">
              <a:ext uri="{FF2B5EF4-FFF2-40B4-BE49-F238E27FC236}">
                <a16:creationId xmlns:a16="http://schemas.microsoft.com/office/drawing/2014/main" id="{4434EA1E-F116-4C4E-8139-1D1C6612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24325"/>
            <a:ext cx="347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change-lines-3-2">
            <a:extLst xmlns:a="http://schemas.openxmlformats.org/drawingml/2006/main">
              <a:ext uri="{FF2B5EF4-FFF2-40B4-BE49-F238E27FC236}">
                <a16:creationId xmlns:a16="http://schemas.microsoft.com/office/drawing/2014/main" id="{1B9A86D2-0919-416C-AB00-D21AB0D9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81525"/>
            <a:ext cx="347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change-lines-3-3">
            <a:extLst xmlns:a="http://schemas.openxmlformats.org/drawingml/2006/main">
              <a:ext uri="{FF2B5EF4-FFF2-40B4-BE49-F238E27FC236}">
                <a16:creationId xmlns:a16="http://schemas.microsoft.com/office/drawing/2014/main" id="{18B2CB41-C4B6-4788-8700-210FA8E5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38725"/>
            <a:ext cx="347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change-lines-3-4">
            <a:extLst xmlns:a="http://schemas.openxmlformats.org/drawingml/2006/main">
              <a:ext uri="{FF2B5EF4-FFF2-40B4-BE49-F238E27FC236}">
                <a16:creationId xmlns:a16="http://schemas.microsoft.com/office/drawing/2014/main" id="{1B30F0AC-B976-4F6D-96D0-6078D8BC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95925"/>
            <a:ext cx="347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046580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title-4">
            <a:extLst xmlns:a="http://schemas.openxmlformats.org/drawingml/2006/main">
              <a:ext uri="{FF2B5EF4-FFF2-40B4-BE49-F238E27FC236}">
                <a16:creationId xmlns:a16="http://schemas.microsoft.com/office/drawing/2014/main" id="{C20CD509-9BD0-409C-B02B-2A61491D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Describe symptoms in observable language</a:t>
            </a:r>
          </a:p>
        </p:txBody>
      </p:sp>
      <p:sp>
        <p:nvSpPr>
          <p:cNvPr id="2" name="subtitle-4">
            <a:extLst xmlns:a="http://schemas.openxmlformats.org/drawingml/2006/main">
              <a:ext uri="{FF2B5EF4-FFF2-40B4-BE49-F238E27FC236}">
                <a16:creationId xmlns:a16="http://schemas.microsoft.com/office/drawing/2014/main" id="{FA87E2C6-B3B9-48F6-8E92-0D8EA47A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9675"/>
            <a:ext cx="1083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Use your own words. Specific examples are often more useful than searching for the perfect label.</a:t>
            </a:r>
          </a:p>
        </p:txBody>
      </p:sp>
      <p:sp>
        <p:nvSpPr>
          <p:cNvPr id="3" name="eyebrow-4">
            <a:extLst xmlns:a="http://schemas.openxmlformats.org/drawingml/2006/main">
              <a:ext uri="{FF2B5EF4-FFF2-40B4-BE49-F238E27FC236}">
                <a16:creationId xmlns:a16="http://schemas.microsoft.com/office/drawing/2014/main" id="{60491C73-2EAA-48C1-9286-C5384C8B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JUNO OPEN HEALTH TOOLS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3A02AEFD-843F-4B23-B5D0-E6A5221C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observation-header-1">
            <a:extLst xmlns:a="http://schemas.openxmlformats.org/drawingml/2006/main">
              <a:ext uri="{FF2B5EF4-FFF2-40B4-BE49-F238E27FC236}">
                <a16:creationId xmlns:a16="http://schemas.microsoft.com/office/drawing/2014/main" id="{A9795311-D8CD-4BF6-B9CA-BF845E49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2895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observation-header-text-1">
            <a:extLst xmlns:a="http://schemas.openxmlformats.org/drawingml/2006/main">
              <a:ext uri="{FF2B5EF4-FFF2-40B4-BE49-F238E27FC236}">
                <a16:creationId xmlns:a16="http://schemas.microsoft.com/office/drawing/2014/main" id="{F5271FC4-3161-48B9-BBCA-20F8EF98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I noticed</a:t>
            </a:r>
          </a:p>
        </p:txBody>
      </p:sp>
      <p:sp>
        <p:nvSpPr>
          <p:cNvPr id="7" name="observation-header-2">
            <a:extLst xmlns:a="http://schemas.openxmlformats.org/drawingml/2006/main">
              <a:ext uri="{FF2B5EF4-FFF2-40B4-BE49-F238E27FC236}">
                <a16:creationId xmlns:a16="http://schemas.microsoft.com/office/drawing/2014/main" id="{58D737D9-E43A-4695-8560-87D1DE34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8120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observation-header-text-2">
            <a:extLst xmlns:a="http://schemas.openxmlformats.org/drawingml/2006/main">
              <a:ext uri="{FF2B5EF4-FFF2-40B4-BE49-F238E27FC236}">
                <a16:creationId xmlns:a16="http://schemas.microsoft.com/office/drawing/2014/main" id="{0CECC399-8693-4E96-9FBC-66BB59E2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764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When</a:t>
            </a:r>
          </a:p>
        </p:txBody>
      </p:sp>
      <p:sp>
        <p:nvSpPr>
          <p:cNvPr id="9" name="observation-header-3">
            <a:extLst xmlns:a="http://schemas.openxmlformats.org/drawingml/2006/main">
              <a:ext uri="{FF2B5EF4-FFF2-40B4-BE49-F238E27FC236}">
                <a16:creationId xmlns:a16="http://schemas.microsoft.com/office/drawing/2014/main" id="{A34C2C75-C4CB-4BF2-B986-DAEC3989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81200"/>
            <a:ext cx="1676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observation-header-text-3">
            <a:extLst xmlns:a="http://schemas.openxmlformats.org/drawingml/2006/main">
              <a:ext uri="{FF2B5EF4-FFF2-40B4-BE49-F238E27FC236}">
                <a16:creationId xmlns:a16="http://schemas.microsoft.com/office/drawing/2014/main" id="{5B53E2CE-92CB-49D6-960D-FCB225D5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764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How often</a:t>
            </a:r>
          </a:p>
        </p:txBody>
      </p:sp>
      <p:sp>
        <p:nvSpPr>
          <p:cNvPr id="11" name="observation-header-4">
            <a:extLst xmlns:a="http://schemas.openxmlformats.org/drawingml/2006/main">
              <a:ext uri="{FF2B5EF4-FFF2-40B4-BE49-F238E27FC236}">
                <a16:creationId xmlns:a16="http://schemas.microsoft.com/office/drawing/2014/main" id="{E397A64A-06FE-48ED-95E2-55E22651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812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observation-header-text-4">
            <a:extLst xmlns:a="http://schemas.openxmlformats.org/drawingml/2006/main">
              <a:ext uri="{FF2B5EF4-FFF2-40B4-BE49-F238E27FC236}">
                <a16:creationId xmlns:a16="http://schemas.microsoft.com/office/drawing/2014/main" id="{08B587F6-A843-46B7-8985-5261D9CD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764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Intensity</a:t>
            </a:r>
          </a:p>
        </p:txBody>
      </p:sp>
      <p:sp>
        <p:nvSpPr>
          <p:cNvPr id="13" name="observation-header-5">
            <a:extLst xmlns:a="http://schemas.openxmlformats.org/drawingml/2006/main">
              <a:ext uri="{FF2B5EF4-FFF2-40B4-BE49-F238E27FC236}">
                <a16:creationId xmlns:a16="http://schemas.microsoft.com/office/drawing/2014/main" id="{7CC05C2B-0737-4EC2-B3AF-370BD5BA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81200"/>
            <a:ext cx="346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observation-header-text-5">
            <a:extLst xmlns:a="http://schemas.openxmlformats.org/drawingml/2006/main">
              <a:ext uri="{FF2B5EF4-FFF2-40B4-BE49-F238E27FC236}">
                <a16:creationId xmlns:a16="http://schemas.microsoft.com/office/drawing/2014/main" id="{C607B47D-C5FC-459F-8750-72E4663A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7645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it stopped or changed</a:t>
            </a:r>
          </a:p>
        </p:txBody>
      </p:sp>
      <p:sp>
        <p:nvSpPr>
          <p:cNvPr id="15" name="observation-cell-1-1">
            <a:extLst xmlns:a="http://schemas.openxmlformats.org/drawingml/2006/main">
              <a:ext uri="{FF2B5EF4-FFF2-40B4-BE49-F238E27FC236}">
                <a16:creationId xmlns:a16="http://schemas.microsoft.com/office/drawing/2014/main" id="{E4FC7453-AECE-4E99-87CB-E0600341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2895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observation-cell-1-2">
            <a:extLst xmlns:a="http://schemas.openxmlformats.org/drawingml/2006/main">
              <a:ext uri="{FF2B5EF4-FFF2-40B4-BE49-F238E27FC236}">
                <a16:creationId xmlns:a16="http://schemas.microsoft.com/office/drawing/2014/main" id="{42722AB9-A70E-4DDC-BC21-C01328AD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95550"/>
            <a:ext cx="1752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observation-cell-1-3">
            <a:extLst xmlns:a="http://schemas.openxmlformats.org/drawingml/2006/main">
              <a:ext uri="{FF2B5EF4-FFF2-40B4-BE49-F238E27FC236}">
                <a16:creationId xmlns:a16="http://schemas.microsoft.com/office/drawing/2014/main" id="{01A88644-2B8D-4263-9197-577CC435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9555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observation-cell-1-4">
            <a:extLst xmlns:a="http://schemas.openxmlformats.org/drawingml/2006/main">
              <a:ext uri="{FF2B5EF4-FFF2-40B4-BE49-F238E27FC236}">
                <a16:creationId xmlns:a16="http://schemas.microsoft.com/office/drawing/2014/main" id="{0E4F9444-A4C0-4652-82A9-A19A2887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955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observation-cell-1-5">
            <a:extLst xmlns:a="http://schemas.openxmlformats.org/drawingml/2006/main">
              <a:ext uri="{FF2B5EF4-FFF2-40B4-BE49-F238E27FC236}">
                <a16:creationId xmlns:a16="http://schemas.microsoft.com/office/drawing/2014/main" id="{BCC4C39D-1660-48D5-A3A2-32058BEF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95550"/>
            <a:ext cx="346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observation-cell-2-1">
            <a:extLst xmlns:a="http://schemas.openxmlformats.org/drawingml/2006/main">
              <a:ext uri="{FF2B5EF4-FFF2-40B4-BE49-F238E27FC236}">
                <a16:creationId xmlns:a16="http://schemas.microsoft.com/office/drawing/2014/main" id="{99CBF3D8-4235-4F89-8198-41203CA1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2895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observation-cell-2-2">
            <a:extLst xmlns:a="http://schemas.openxmlformats.org/drawingml/2006/main">
              <a:ext uri="{FF2B5EF4-FFF2-40B4-BE49-F238E27FC236}">
                <a16:creationId xmlns:a16="http://schemas.microsoft.com/office/drawing/2014/main" id="{542918FA-075D-45B5-913F-587CF8D7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48000"/>
            <a:ext cx="1752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observation-cell-2-3">
            <a:extLst xmlns:a="http://schemas.openxmlformats.org/drawingml/2006/main">
              <a:ext uri="{FF2B5EF4-FFF2-40B4-BE49-F238E27FC236}">
                <a16:creationId xmlns:a16="http://schemas.microsoft.com/office/drawing/2014/main" id="{98CB9C9C-053C-4637-9847-03D31D3C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4800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observation-cell-2-4">
            <a:extLst xmlns:a="http://schemas.openxmlformats.org/drawingml/2006/main">
              <a:ext uri="{FF2B5EF4-FFF2-40B4-BE49-F238E27FC236}">
                <a16:creationId xmlns:a16="http://schemas.microsoft.com/office/drawing/2014/main" id="{0EF3C1E6-2645-438F-B384-D298951C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480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observation-cell-2-5">
            <a:extLst xmlns:a="http://schemas.openxmlformats.org/drawingml/2006/main">
              <a:ext uri="{FF2B5EF4-FFF2-40B4-BE49-F238E27FC236}">
                <a16:creationId xmlns:a16="http://schemas.microsoft.com/office/drawing/2014/main" id="{737EBC74-7802-4CE4-A31B-DD63F81F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48000"/>
            <a:ext cx="346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observation-cell-3-1">
            <a:extLst xmlns:a="http://schemas.openxmlformats.org/drawingml/2006/main">
              <a:ext uri="{FF2B5EF4-FFF2-40B4-BE49-F238E27FC236}">
                <a16:creationId xmlns:a16="http://schemas.microsoft.com/office/drawing/2014/main" id="{F3B6132C-5C7E-462E-B234-F65BD331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2895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observation-cell-3-2">
            <a:extLst xmlns:a="http://schemas.openxmlformats.org/drawingml/2006/main">
              <a:ext uri="{FF2B5EF4-FFF2-40B4-BE49-F238E27FC236}">
                <a16:creationId xmlns:a16="http://schemas.microsoft.com/office/drawing/2014/main" id="{8EDAEA13-9215-4A46-AE86-1E8907A0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00450"/>
            <a:ext cx="1752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observation-cell-3-3">
            <a:extLst xmlns:a="http://schemas.openxmlformats.org/drawingml/2006/main">
              <a:ext uri="{FF2B5EF4-FFF2-40B4-BE49-F238E27FC236}">
                <a16:creationId xmlns:a16="http://schemas.microsoft.com/office/drawing/2014/main" id="{51451FAE-D860-46F5-B657-9BA72E89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0045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observation-cell-3-4">
            <a:extLst xmlns:a="http://schemas.openxmlformats.org/drawingml/2006/main">
              <a:ext uri="{FF2B5EF4-FFF2-40B4-BE49-F238E27FC236}">
                <a16:creationId xmlns:a16="http://schemas.microsoft.com/office/drawing/2014/main" id="{02EBE5F4-A3E2-4FF0-A200-95E51734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004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observation-cell-3-5">
            <a:extLst xmlns:a="http://schemas.openxmlformats.org/drawingml/2006/main">
              <a:ext uri="{FF2B5EF4-FFF2-40B4-BE49-F238E27FC236}">
                <a16:creationId xmlns:a16="http://schemas.microsoft.com/office/drawing/2014/main" id="{090985E6-689D-42C1-994C-277E5E9A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0450"/>
            <a:ext cx="346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observation-cell-4-1">
            <a:extLst xmlns:a="http://schemas.openxmlformats.org/drawingml/2006/main">
              <a:ext uri="{FF2B5EF4-FFF2-40B4-BE49-F238E27FC236}">
                <a16:creationId xmlns:a16="http://schemas.microsoft.com/office/drawing/2014/main" id="{EF62E812-C6EC-4D12-9181-37ADD5BF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2895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observation-cell-4-2">
            <a:extLst xmlns:a="http://schemas.openxmlformats.org/drawingml/2006/main">
              <a:ext uri="{FF2B5EF4-FFF2-40B4-BE49-F238E27FC236}">
                <a16:creationId xmlns:a16="http://schemas.microsoft.com/office/drawing/2014/main" id="{044C3855-820D-4CD5-981A-96CDA8CB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152900"/>
            <a:ext cx="1752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observation-cell-4-3">
            <a:extLst xmlns:a="http://schemas.openxmlformats.org/drawingml/2006/main">
              <a:ext uri="{FF2B5EF4-FFF2-40B4-BE49-F238E27FC236}">
                <a16:creationId xmlns:a16="http://schemas.microsoft.com/office/drawing/2014/main" id="{765FF9B9-A1F6-4EA3-9D39-72964BF1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5290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observation-cell-4-4">
            <a:extLst xmlns:a="http://schemas.openxmlformats.org/drawingml/2006/main">
              <a:ext uri="{FF2B5EF4-FFF2-40B4-BE49-F238E27FC236}">
                <a16:creationId xmlns:a16="http://schemas.microsoft.com/office/drawing/2014/main" id="{CCE6EA9B-53C5-4A27-B605-A6E0AC59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529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observation-cell-4-5">
            <a:extLst xmlns:a="http://schemas.openxmlformats.org/drawingml/2006/main">
              <a:ext uri="{FF2B5EF4-FFF2-40B4-BE49-F238E27FC236}">
                <a16:creationId xmlns:a16="http://schemas.microsoft.com/office/drawing/2014/main" id="{88B48B1C-71CF-4529-BEF7-3AB9DBB5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52900"/>
            <a:ext cx="346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observation-cell-5-1">
            <a:extLst xmlns:a="http://schemas.openxmlformats.org/drawingml/2006/main">
              <a:ext uri="{FF2B5EF4-FFF2-40B4-BE49-F238E27FC236}">
                <a16:creationId xmlns:a16="http://schemas.microsoft.com/office/drawing/2014/main" id="{1CBE1BC3-0E42-4D55-BDFF-CDFAFFF8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2895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observation-cell-5-2">
            <a:extLst xmlns:a="http://schemas.openxmlformats.org/drawingml/2006/main">
              <a:ext uri="{FF2B5EF4-FFF2-40B4-BE49-F238E27FC236}">
                <a16:creationId xmlns:a16="http://schemas.microsoft.com/office/drawing/2014/main" id="{EF12B6C6-F94D-4A7D-B3A6-88029B5C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05350"/>
            <a:ext cx="1752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observation-cell-5-3">
            <a:extLst xmlns:a="http://schemas.openxmlformats.org/drawingml/2006/main">
              <a:ext uri="{FF2B5EF4-FFF2-40B4-BE49-F238E27FC236}">
                <a16:creationId xmlns:a16="http://schemas.microsoft.com/office/drawing/2014/main" id="{B38E74DD-3AF5-412A-BE67-E9135228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0535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observation-cell-5-4">
            <a:extLst xmlns:a="http://schemas.openxmlformats.org/drawingml/2006/main">
              <a:ext uri="{FF2B5EF4-FFF2-40B4-BE49-F238E27FC236}">
                <a16:creationId xmlns:a16="http://schemas.microsoft.com/office/drawing/2014/main" id="{61B4DD8A-8759-4155-9AEB-80425107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053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observation-cell-5-5">
            <a:extLst xmlns:a="http://schemas.openxmlformats.org/drawingml/2006/main">
              <a:ext uri="{FF2B5EF4-FFF2-40B4-BE49-F238E27FC236}">
                <a16:creationId xmlns:a16="http://schemas.microsoft.com/office/drawing/2014/main" id="{2D1FB3B6-55E7-45E3-B0E0-EC77AED0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05350"/>
            <a:ext cx="346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observation-cell-6-1">
            <a:extLst xmlns:a="http://schemas.openxmlformats.org/drawingml/2006/main">
              <a:ext uri="{FF2B5EF4-FFF2-40B4-BE49-F238E27FC236}">
                <a16:creationId xmlns:a16="http://schemas.microsoft.com/office/drawing/2014/main" id="{AB0DCA37-0FB1-452D-877D-C792BFDE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2895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observation-cell-6-2">
            <a:extLst xmlns:a="http://schemas.openxmlformats.org/drawingml/2006/main">
              <a:ext uri="{FF2B5EF4-FFF2-40B4-BE49-F238E27FC236}">
                <a16:creationId xmlns:a16="http://schemas.microsoft.com/office/drawing/2014/main" id="{3EE4AC37-9BDB-461B-93D6-C1423A49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257800"/>
            <a:ext cx="1752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observation-cell-6-3">
            <a:extLst xmlns:a="http://schemas.openxmlformats.org/drawingml/2006/main">
              <a:ext uri="{FF2B5EF4-FFF2-40B4-BE49-F238E27FC236}">
                <a16:creationId xmlns:a16="http://schemas.microsoft.com/office/drawing/2014/main" id="{41DBB4AF-45A8-444C-8A45-C515B99C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5780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observation-cell-6-4">
            <a:extLst xmlns:a="http://schemas.openxmlformats.org/drawingml/2006/main">
              <a:ext uri="{FF2B5EF4-FFF2-40B4-BE49-F238E27FC236}">
                <a16:creationId xmlns:a16="http://schemas.microsoft.com/office/drawing/2014/main" id="{AFD9BE3F-49CC-4F5F-881B-C4351D7D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2578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observation-cell-6-5">
            <a:extLst xmlns:a="http://schemas.openxmlformats.org/drawingml/2006/main">
              <a:ext uri="{FF2B5EF4-FFF2-40B4-BE49-F238E27FC236}">
                <a16:creationId xmlns:a16="http://schemas.microsoft.com/office/drawing/2014/main" id="{DCF50C2A-2556-43F5-A6F4-94E35BC4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57800"/>
            <a:ext cx="346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observation-tip">
            <a:extLst xmlns:a="http://schemas.openxmlformats.org/drawingml/2006/main">
              <a:ext uri="{FF2B5EF4-FFF2-40B4-BE49-F238E27FC236}">
                <a16:creationId xmlns:a16="http://schemas.microsoft.com/office/drawing/2014/main" id="{4DE71A74-9AE0-4258-AE83-65D603FF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Examples: ‘burning behind my eyes after reading’ · ‘legs feel heavy after five minutes standing’</a:t>
            </a:r>
          </a:p>
        </p:txBody>
      </p:sp>
    </p:spTree>
    <p:extLst>
      <p:ext uri="{BB962C8B-B14F-4D97-AF65-F5344CB8AC3E}">
        <p14:creationId xmlns:p14="http://schemas.microsoft.com/office/powerpoint/2010/main" val="77497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-5">
            <a:extLst xmlns:a="http://schemas.openxmlformats.org/drawingml/2006/main">
              <a:ext uri="{FF2B5EF4-FFF2-40B4-BE49-F238E27FC236}">
                <a16:creationId xmlns:a16="http://schemas.microsoft.com/office/drawing/2014/main" id="{35D469E4-B7E8-4984-B7B8-29470F76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Build a simple timeline</a:t>
            </a:r>
          </a:p>
        </p:txBody>
      </p:sp>
      <p:sp>
        <p:nvSpPr>
          <p:cNvPr id="2" name="subtitle-5">
            <a:extLst xmlns:a="http://schemas.openxmlformats.org/drawingml/2006/main">
              <a:ext uri="{FF2B5EF4-FFF2-40B4-BE49-F238E27FC236}">
                <a16:creationId xmlns:a16="http://schemas.microsoft.com/office/drawing/2014/main" id="{3FC58708-B58F-4597-B6FF-BD2E01F3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9675"/>
            <a:ext cx="1083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Use approximate dates when needed. Do not invent precision you do not have.</a:t>
            </a:r>
          </a:p>
        </p:txBody>
      </p:sp>
      <p:sp>
        <p:nvSpPr>
          <p:cNvPr id="3" name="eyebrow-5">
            <a:extLst xmlns:a="http://schemas.openxmlformats.org/drawingml/2006/main">
              <a:ext uri="{FF2B5EF4-FFF2-40B4-BE49-F238E27FC236}">
                <a16:creationId xmlns:a16="http://schemas.microsoft.com/office/drawing/2014/main" id="{F8F40FBC-78C6-4D03-A2BD-8C636EC5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JUNO OPEN HEALTH TOOLS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A0371056-905B-43DA-B017-175DE5B2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timeline-axis">
            <a:extLst xmlns:a="http://schemas.openxmlformats.org/drawingml/2006/main">
              <a:ext uri="{FF2B5EF4-FFF2-40B4-BE49-F238E27FC236}">
                <a16:creationId xmlns:a16="http://schemas.microsoft.com/office/drawing/2014/main" id="{C3D38DBC-CBC9-4A99-8C01-38DF4666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6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398CF023-A211-4CCB-B9C7-7B1EDDB2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33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7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04AC38A6-A724-458C-940E-2E140FAF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First noticed</a:t>
            </a:r>
          </a:p>
        </p:txBody>
      </p:sp>
      <p:sp>
        <p:nvSpPr>
          <p:cNvPr id="8" name="timeline-prompt-1">
            <a:extLst xmlns:a="http://schemas.openxmlformats.org/drawingml/2006/main">
              <a:ext uri="{FF2B5EF4-FFF2-40B4-BE49-F238E27FC236}">
                <a16:creationId xmlns:a16="http://schemas.microsoft.com/office/drawing/2014/main" id="{2CDD1F69-DEAA-4933-9B6D-23596D47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Date or period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changed</a:t>
            </a:r>
          </a:p>
        </p:txBody>
      </p:sp>
      <p:sp>
        <p:nvSpPr>
          <p:cNvPr id="9" name="timeline-lines-1-1">
            <a:extLst xmlns:a="http://schemas.openxmlformats.org/drawingml/2006/main">
              <a:ext uri="{FF2B5EF4-FFF2-40B4-BE49-F238E27FC236}">
                <a16:creationId xmlns:a16="http://schemas.microsoft.com/office/drawing/2014/main" id="{9B06B2E1-2E81-4AC8-BE6E-BA1513EA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imeline-lines-1-2">
            <a:extLst xmlns:a="http://schemas.openxmlformats.org/drawingml/2006/main">
              <a:ext uri="{FF2B5EF4-FFF2-40B4-BE49-F238E27FC236}">
                <a16:creationId xmlns:a16="http://schemas.microsoft.com/office/drawing/2014/main" id="{5216F32E-A14B-4932-8369-FF408193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timeline-lines-1-3">
            <a:extLst xmlns:a="http://schemas.openxmlformats.org/drawingml/2006/main">
              <a:ext uri="{FF2B5EF4-FFF2-40B4-BE49-F238E27FC236}">
                <a16:creationId xmlns:a16="http://schemas.microsoft.com/office/drawing/2014/main" id="{FD91C773-0608-4D76-9BA5-469278A9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F32D33F7-6292-4457-B32F-9905AA1B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133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3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80770144-3CBF-461D-9463-50832E34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28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Important change</a:t>
            </a:r>
          </a:p>
        </p:txBody>
      </p:sp>
      <p:sp>
        <p:nvSpPr>
          <p:cNvPr id="14" name="timeline-prompt-2">
            <a:extLst xmlns:a="http://schemas.openxmlformats.org/drawingml/2006/main">
              <a:ext uri="{FF2B5EF4-FFF2-40B4-BE49-F238E27FC236}">
                <a16:creationId xmlns:a16="http://schemas.microsoft.com/office/drawing/2014/main" id="{10444DB1-1C38-49A9-B8FF-156DC1E7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576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Date or period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became different</a:t>
            </a:r>
          </a:p>
        </p:txBody>
      </p:sp>
      <p:sp>
        <p:nvSpPr>
          <p:cNvPr id="15" name="timeline-lines-2-1">
            <a:extLst xmlns:a="http://schemas.openxmlformats.org/drawingml/2006/main">
              <a:ext uri="{FF2B5EF4-FFF2-40B4-BE49-F238E27FC236}">
                <a16:creationId xmlns:a16="http://schemas.microsoft.com/office/drawing/2014/main" id="{A6CC2E07-B139-470C-9A17-6F0F7B1A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863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timeline-lines-2-2">
            <a:extLst xmlns:a="http://schemas.openxmlformats.org/drawingml/2006/main">
              <a:ext uri="{FF2B5EF4-FFF2-40B4-BE49-F238E27FC236}">
                <a16:creationId xmlns:a16="http://schemas.microsoft.com/office/drawing/2014/main" id="{69FBF75F-CFB9-400A-A68C-B117804C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0863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imeline-lines-2-3">
            <a:extLst xmlns:a="http://schemas.openxmlformats.org/drawingml/2006/main">
              <a:ext uri="{FF2B5EF4-FFF2-40B4-BE49-F238E27FC236}">
                <a16:creationId xmlns:a16="http://schemas.microsoft.com/office/drawing/2014/main" id="{B9E09D4D-F554-405B-9C68-19FCC618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4864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91881133-AF72-4EBA-B147-AB1DEE3F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133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9" name="timeline-label-3">
            <a:extLst xmlns:a="http://schemas.openxmlformats.org/drawingml/2006/main">
              <a:ext uri="{FF2B5EF4-FFF2-40B4-BE49-F238E27FC236}">
                <a16:creationId xmlns:a16="http://schemas.microsoft.com/office/drawing/2014/main" id="{C739A72D-4D7B-459D-8E48-A72FE9B4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28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Test or treatment</a:t>
            </a:r>
          </a:p>
        </p:txBody>
      </p:sp>
      <p:sp>
        <p:nvSpPr>
          <p:cNvPr id="20" name="timeline-prompt-3">
            <a:extLst xmlns:a="http://schemas.openxmlformats.org/drawingml/2006/main">
              <a:ext uri="{FF2B5EF4-FFF2-40B4-BE49-F238E27FC236}">
                <a16:creationId xmlns:a16="http://schemas.microsoft.com/office/drawing/2014/main" id="{09015F96-EA9D-49C9-AF7E-CE61FA24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576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happened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you observed</a:t>
            </a:r>
          </a:p>
        </p:txBody>
      </p:sp>
      <p:sp>
        <p:nvSpPr>
          <p:cNvPr id="21" name="timeline-lines-3-1">
            <a:extLst xmlns:a="http://schemas.openxmlformats.org/drawingml/2006/main">
              <a:ext uri="{FF2B5EF4-FFF2-40B4-BE49-F238E27FC236}">
                <a16:creationId xmlns:a16="http://schemas.microsoft.com/office/drawing/2014/main" id="{7F9B9916-E0AB-4476-BF41-C9808973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6863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timeline-lines-3-2">
            <a:extLst xmlns:a="http://schemas.openxmlformats.org/drawingml/2006/main">
              <a:ext uri="{FF2B5EF4-FFF2-40B4-BE49-F238E27FC236}">
                <a16:creationId xmlns:a16="http://schemas.microsoft.com/office/drawing/2014/main" id="{8B294C8A-CD5E-4A94-B018-03BA3D1E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0863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timeline-lines-3-3">
            <a:extLst xmlns:a="http://schemas.openxmlformats.org/drawingml/2006/main">
              <a:ext uri="{FF2B5EF4-FFF2-40B4-BE49-F238E27FC236}">
                <a16:creationId xmlns:a16="http://schemas.microsoft.com/office/drawing/2014/main" id="{755951F2-0A7E-4D06-9660-E8861CCC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4864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03E900DD-90A2-4EEC-8BE2-6E73E407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3133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5" name="timeline-label-4">
            <a:extLst xmlns:a="http://schemas.openxmlformats.org/drawingml/2006/main">
              <a:ext uri="{FF2B5EF4-FFF2-40B4-BE49-F238E27FC236}">
                <a16:creationId xmlns:a16="http://schemas.microsoft.com/office/drawing/2014/main" id="{B00B3B0D-899A-4715-9C82-BB921656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28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26" name="timeline-prompt-4">
            <a:extLst xmlns:a="http://schemas.openxmlformats.org/drawingml/2006/main">
              <a:ext uri="{FF2B5EF4-FFF2-40B4-BE49-F238E27FC236}">
                <a16:creationId xmlns:a16="http://schemas.microsoft.com/office/drawing/2014/main" id="{8FD5D17B-1EF3-493F-8813-CAD8B7EE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576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Current pattern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Current impact</a:t>
            </a:r>
          </a:p>
        </p:txBody>
      </p:sp>
      <p:sp>
        <p:nvSpPr>
          <p:cNvPr id="27" name="timeline-lines-4-1">
            <a:extLst xmlns:a="http://schemas.openxmlformats.org/drawingml/2006/main">
              <a:ext uri="{FF2B5EF4-FFF2-40B4-BE49-F238E27FC236}">
                <a16:creationId xmlns:a16="http://schemas.microsoft.com/office/drawing/2014/main" id="{7825FA32-3F5A-43C6-95A3-8F2B1EAA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86300"/>
            <a:ext cx="188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timeline-lines-4-2">
            <a:extLst xmlns:a="http://schemas.openxmlformats.org/drawingml/2006/main">
              <a:ext uri="{FF2B5EF4-FFF2-40B4-BE49-F238E27FC236}">
                <a16:creationId xmlns:a16="http://schemas.microsoft.com/office/drawing/2014/main" id="{BE319531-C264-4907-8502-2FB4C0C6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086350"/>
            <a:ext cx="188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timeline-lines-4-3">
            <a:extLst xmlns:a="http://schemas.openxmlformats.org/drawingml/2006/main">
              <a:ext uri="{FF2B5EF4-FFF2-40B4-BE49-F238E27FC236}">
                <a16:creationId xmlns:a16="http://schemas.microsoft.com/office/drawing/2014/main" id="{C910ECF8-6E5B-441E-9565-AF32BE66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486400"/>
            <a:ext cx="188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186552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-6">
            <a:extLst xmlns:a="http://schemas.openxmlformats.org/drawingml/2006/main">
              <a:ext uri="{FF2B5EF4-FFF2-40B4-BE49-F238E27FC236}">
                <a16:creationId xmlns:a16="http://schemas.microsoft.com/office/drawing/2014/main" id="{0F18582C-B926-4019-8441-E92572E2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Choose the questions that matter most</a:t>
            </a:r>
          </a:p>
        </p:txBody>
      </p:sp>
      <p:sp>
        <p:nvSpPr>
          <p:cNvPr id="2" name="subtitle-6">
            <a:extLst xmlns:a="http://schemas.openxmlformats.org/drawingml/2006/main">
              <a:ext uri="{FF2B5EF4-FFF2-40B4-BE49-F238E27FC236}">
                <a16:creationId xmlns:a16="http://schemas.microsoft.com/office/drawing/2014/main" id="{C251D3ED-83CB-471A-8FE2-F3B727F7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9675"/>
            <a:ext cx="1083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Bring fewer, clearer questions. Put the most important one first.</a:t>
            </a:r>
          </a:p>
        </p:txBody>
      </p:sp>
      <p:sp>
        <p:nvSpPr>
          <p:cNvPr id="3" name="eyebrow-6">
            <a:extLst xmlns:a="http://schemas.openxmlformats.org/drawingml/2006/main">
              <a:ext uri="{FF2B5EF4-FFF2-40B4-BE49-F238E27FC236}">
                <a16:creationId xmlns:a16="http://schemas.microsoft.com/office/drawing/2014/main" id="{32A998D8-B31A-490E-AAA0-A8CDADE5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JUNO OPEN HEALTH TOOLS</a:t>
            </a:r>
          </a:p>
        </p:txBody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BA08EE70-7982-4779-83A2-2ACFB87B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questions-left-heading">
            <a:extLst xmlns:a="http://schemas.openxmlformats.org/drawingml/2006/main">
              <a:ext uri="{FF2B5EF4-FFF2-40B4-BE49-F238E27FC236}">
                <a16:creationId xmlns:a16="http://schemas.microsoft.com/office/drawing/2014/main" id="{260523B8-3C3B-4DB8-B536-FED4A5C1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My top question</a:t>
            </a:r>
          </a:p>
        </p:txBody>
      </p:sp>
      <p:sp>
        <p:nvSpPr>
          <p:cNvPr id="6" name="questions-top-area">
            <a:extLst xmlns:a="http://schemas.openxmlformats.org/drawingml/2006/main">
              <a:ext uri="{FF2B5EF4-FFF2-40B4-BE49-F238E27FC236}">
                <a16:creationId xmlns:a16="http://schemas.microsoft.com/office/drawing/2014/main" id="{EACB4B5D-C806-4648-90EE-023E7D17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52197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7" name="questions-backup-heading">
            <a:extLst xmlns:a="http://schemas.openxmlformats.org/drawingml/2006/main">
              <a:ext uri="{FF2B5EF4-FFF2-40B4-BE49-F238E27FC236}">
                <a16:creationId xmlns:a16="http://schemas.microsoft.com/office/drawing/2014/main" id="{BD0FF000-E6FD-4C79-8EFB-D86A8794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If there is time</a:t>
            </a:r>
          </a:p>
        </p:txBody>
      </p:sp>
      <p:sp>
        <p:nvSpPr>
          <p:cNvPr id="8" name="questions-backup-lines-1">
            <a:extLst xmlns:a="http://schemas.openxmlformats.org/drawingml/2006/main">
              <a:ext uri="{FF2B5EF4-FFF2-40B4-BE49-F238E27FC236}">
                <a16:creationId xmlns:a16="http://schemas.microsoft.com/office/drawing/2014/main" id="{6823C29C-2739-4612-860A-2A7183B9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questions-backup-lines-2">
            <a:extLst xmlns:a="http://schemas.openxmlformats.org/drawingml/2006/main">
              <a:ext uri="{FF2B5EF4-FFF2-40B4-BE49-F238E27FC236}">
                <a16:creationId xmlns:a16="http://schemas.microsoft.com/office/drawing/2014/main" id="{E3112E75-2CAE-40A3-AC27-64E3E7BF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questions-check-heading">
            <a:extLst xmlns:a="http://schemas.openxmlformats.org/drawingml/2006/main">
              <a:ext uri="{FF2B5EF4-FFF2-40B4-BE49-F238E27FC236}">
                <a16:creationId xmlns:a16="http://schemas.microsoft.com/office/drawing/2014/main" id="{3B193BD0-C61E-4960-B7FD-AD3BA812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812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Useful areas to check</a:t>
            </a:r>
          </a:p>
        </p:txBody>
      </p:sp>
      <p:sp>
        <p:nvSpPr>
          <p:cNvPr id="11" name="question-check-1">
            <a:extLst xmlns:a="http://schemas.openxmlformats.org/drawingml/2006/main">
              <a:ext uri="{FF2B5EF4-FFF2-40B4-BE49-F238E27FC236}">
                <a16:creationId xmlns:a16="http://schemas.microsoft.com/office/drawing/2014/main" id="{CB98043B-11EE-44CA-BF1E-9949CB0B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2" name="question-check-text-1">
            <a:extLst xmlns:a="http://schemas.openxmlformats.org/drawingml/2006/main">
              <a:ext uri="{FF2B5EF4-FFF2-40B4-BE49-F238E27FC236}">
                <a16:creationId xmlns:a16="http://schemas.microsoft.com/office/drawing/2014/main" id="{750FE3EB-A84C-41E4-9A20-AEC6D699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67000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Medication purpose, benefit, or side effects</a:t>
            </a:r>
          </a:p>
        </p:txBody>
      </p:sp>
      <p:sp>
        <p:nvSpPr>
          <p:cNvPr id="13" name="question-check-rule-1">
            <a:extLst xmlns:a="http://schemas.openxmlformats.org/drawingml/2006/main">
              <a:ext uri="{FF2B5EF4-FFF2-40B4-BE49-F238E27FC236}">
                <a16:creationId xmlns:a16="http://schemas.microsoft.com/office/drawing/2014/main" id="{82DE38A3-531B-4D66-9E0A-6BF1EB65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43250"/>
            <a:ext cx="432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question-check-2">
            <a:extLst xmlns:a="http://schemas.openxmlformats.org/drawingml/2006/main">
              <a:ext uri="{FF2B5EF4-FFF2-40B4-BE49-F238E27FC236}">
                <a16:creationId xmlns:a16="http://schemas.microsoft.com/office/drawing/2014/main" id="{EE4FED79-E210-44FF-B049-C7502F4D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71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5" name="question-check-text-2">
            <a:extLst xmlns:a="http://schemas.openxmlformats.org/drawingml/2006/main">
              <a:ext uri="{FF2B5EF4-FFF2-40B4-BE49-F238E27FC236}">
                <a16:creationId xmlns:a16="http://schemas.microsoft.com/office/drawing/2014/main" id="{FE50A04E-9E79-46A9-83E2-3F9247B6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52800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a test can and cannot tell us</a:t>
            </a:r>
          </a:p>
        </p:txBody>
      </p:sp>
      <p:sp>
        <p:nvSpPr>
          <p:cNvPr id="16" name="question-check-rule-2">
            <a:extLst xmlns:a="http://schemas.openxmlformats.org/drawingml/2006/main">
              <a:ext uri="{FF2B5EF4-FFF2-40B4-BE49-F238E27FC236}">
                <a16:creationId xmlns:a16="http://schemas.microsoft.com/office/drawing/2014/main" id="{AE11CE96-751F-434F-86F6-791EEBAC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29050"/>
            <a:ext cx="432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question-check-3">
            <a:extLst xmlns:a="http://schemas.openxmlformats.org/drawingml/2006/main">
              <a:ext uri="{FF2B5EF4-FFF2-40B4-BE49-F238E27FC236}">
                <a16:creationId xmlns:a16="http://schemas.microsoft.com/office/drawing/2014/main" id="{BCC7AA3E-C337-411F-8D12-F3C56426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57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8" name="question-check-text-3">
            <a:extLst xmlns:a="http://schemas.openxmlformats.org/drawingml/2006/main">
              <a:ext uri="{FF2B5EF4-FFF2-40B4-BE49-F238E27FC236}">
                <a16:creationId xmlns:a16="http://schemas.microsoft.com/office/drawing/2014/main" id="{B5D6E349-689B-4495-B6D1-8EAE8646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38600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next step and who is responsible</a:t>
            </a:r>
          </a:p>
        </p:txBody>
      </p:sp>
      <p:sp>
        <p:nvSpPr>
          <p:cNvPr id="19" name="question-check-rule-3">
            <a:extLst xmlns:a="http://schemas.openxmlformats.org/drawingml/2006/main">
              <a:ext uri="{FF2B5EF4-FFF2-40B4-BE49-F238E27FC236}">
                <a16:creationId xmlns:a16="http://schemas.microsoft.com/office/drawing/2014/main" id="{E39E4E87-4352-4A8D-BA76-74CC95B4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14850"/>
            <a:ext cx="432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question-check-4">
            <a:extLst xmlns:a="http://schemas.openxmlformats.org/drawingml/2006/main">
              <a:ext uri="{FF2B5EF4-FFF2-40B4-BE49-F238E27FC236}">
                <a16:creationId xmlns:a16="http://schemas.microsoft.com/office/drawing/2014/main" id="{D672AF61-05CD-4F44-A3EC-62524B34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43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1" name="question-check-text-4">
            <a:extLst xmlns:a="http://schemas.openxmlformats.org/drawingml/2006/main">
              <a:ext uri="{FF2B5EF4-FFF2-40B4-BE49-F238E27FC236}">
                <a16:creationId xmlns:a16="http://schemas.microsoft.com/office/drawing/2014/main" id="{5499F63E-3E28-4F64-B9E7-83A083D4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24400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Which changes should trigger urgent help</a:t>
            </a:r>
          </a:p>
        </p:txBody>
      </p:sp>
      <p:sp>
        <p:nvSpPr>
          <p:cNvPr id="22" name="question-check-rule-4">
            <a:extLst xmlns:a="http://schemas.openxmlformats.org/drawingml/2006/main">
              <a:ext uri="{FF2B5EF4-FFF2-40B4-BE49-F238E27FC236}">
                <a16:creationId xmlns:a16="http://schemas.microsoft.com/office/drawing/2014/main" id="{C610AB42-140A-479E-BD8D-D39EFE6C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00650"/>
            <a:ext cx="432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question-check-5">
            <a:extLst xmlns:a="http://schemas.openxmlformats.org/drawingml/2006/main">
              <a:ext uri="{FF2B5EF4-FFF2-40B4-BE49-F238E27FC236}">
                <a16:creationId xmlns:a16="http://schemas.microsoft.com/office/drawing/2014/main" id="{41717F34-3A94-4624-BB45-122861FA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29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4" name="question-check-text-5">
            <a:extLst xmlns:a="http://schemas.openxmlformats.org/drawingml/2006/main">
              <a:ext uri="{FF2B5EF4-FFF2-40B4-BE49-F238E27FC236}">
                <a16:creationId xmlns:a16="http://schemas.microsoft.com/office/drawing/2014/main" id="{424D41FF-C4B5-46A4-830E-1F5F8613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10200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to do if the plan does not work</a:t>
            </a:r>
          </a:p>
        </p:txBody>
      </p:sp>
      <p:sp>
        <p:nvSpPr>
          <p:cNvPr id="25" name="question-check-rule-5">
            <a:extLst xmlns:a="http://schemas.openxmlformats.org/drawingml/2006/main">
              <a:ext uri="{FF2B5EF4-FFF2-40B4-BE49-F238E27FC236}">
                <a16:creationId xmlns:a16="http://schemas.microsoft.com/office/drawing/2014/main" id="{21D4535E-CB38-4EFD-946B-22961674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886450"/>
            <a:ext cx="432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218781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7">
            <a:extLst xmlns:a="http://schemas.openxmlformats.org/drawingml/2006/main">
              <a:ext uri="{FF2B5EF4-FFF2-40B4-BE49-F238E27FC236}">
                <a16:creationId xmlns:a16="http://schemas.microsoft.com/office/drawing/2014/main" id="{A6736609-AD8D-435E-90A7-20837574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Leave with a plan you can understand</a:t>
            </a:r>
          </a:p>
        </p:txBody>
      </p:sp>
      <p:sp>
        <p:nvSpPr>
          <p:cNvPr id="2" name="subtitle-7">
            <a:extLst xmlns:a="http://schemas.openxmlformats.org/drawingml/2006/main">
              <a:ext uri="{FF2B5EF4-FFF2-40B4-BE49-F238E27FC236}">
                <a16:creationId xmlns:a16="http://schemas.microsoft.com/office/drawing/2014/main" id="{F1DAC846-066E-4912-AD90-E29522C7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9675"/>
            <a:ext cx="1083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Write down decisions before the details fade. Ask the clinician to clarify anything that is uncertain.</a:t>
            </a:r>
          </a:p>
        </p:txBody>
      </p:sp>
      <p:sp>
        <p:nvSpPr>
          <p:cNvPr id="3" name="eyebrow-7">
            <a:extLst xmlns:a="http://schemas.openxmlformats.org/drawingml/2006/main">
              <a:ext uri="{FF2B5EF4-FFF2-40B4-BE49-F238E27FC236}">
                <a16:creationId xmlns:a16="http://schemas.microsoft.com/office/drawing/2014/main" id="{9463F78D-4DDA-4A5F-8642-E67E4410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JUNO OPEN HEALTH TOOLS</a:t>
            </a:r>
          </a:p>
        </p:txBody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46419E67-95AC-4A18-B6CF-8A757C7F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plan-heading-1">
            <a:extLst xmlns:a="http://schemas.openxmlformats.org/drawingml/2006/main">
              <a:ext uri="{FF2B5EF4-FFF2-40B4-BE49-F238E27FC236}">
                <a16:creationId xmlns:a16="http://schemas.microsoft.com/office/drawing/2014/main" id="{63A37422-580E-4623-8F3F-F0BCCBB5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Decisions made</a:t>
            </a:r>
          </a:p>
        </p:txBody>
      </p:sp>
      <p:sp>
        <p:nvSpPr>
          <p:cNvPr id="6" name="plan-area-1">
            <a:extLst xmlns:a="http://schemas.openxmlformats.org/drawingml/2006/main">
              <a:ext uri="{FF2B5EF4-FFF2-40B4-BE49-F238E27FC236}">
                <a16:creationId xmlns:a16="http://schemas.microsoft.com/office/drawing/2014/main" id="{0BAA1BF0-5960-4730-BEE4-4908F2EF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5334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plan-heading-2">
            <a:extLst xmlns:a="http://schemas.openxmlformats.org/drawingml/2006/main">
              <a:ext uri="{FF2B5EF4-FFF2-40B4-BE49-F238E27FC236}">
                <a16:creationId xmlns:a16="http://schemas.microsoft.com/office/drawing/2014/main" id="{751BAC68-1D37-4C3D-94DB-A84643D0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383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Actions and who owns them</a:t>
            </a:r>
          </a:p>
        </p:txBody>
      </p:sp>
      <p:sp>
        <p:nvSpPr>
          <p:cNvPr id="8" name="plan-area-2">
            <a:extLst xmlns:a="http://schemas.openxmlformats.org/drawingml/2006/main">
              <a:ext uri="{FF2B5EF4-FFF2-40B4-BE49-F238E27FC236}">
                <a16:creationId xmlns:a16="http://schemas.microsoft.com/office/drawing/2014/main" id="{4B1294E4-6300-46D5-8FD3-F8E8DD95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95550"/>
            <a:ext cx="5334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plan-heading-3">
            <a:extLst xmlns:a="http://schemas.openxmlformats.org/drawingml/2006/main">
              <a:ext uri="{FF2B5EF4-FFF2-40B4-BE49-F238E27FC236}">
                <a16:creationId xmlns:a16="http://schemas.microsoft.com/office/drawing/2014/main" id="{FCC41C30-BEA7-413F-A714-FD64A3F7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Tests, referrals, or results</a:t>
            </a:r>
          </a:p>
        </p:txBody>
      </p:sp>
      <p:sp>
        <p:nvSpPr>
          <p:cNvPr id="10" name="plan-area-3">
            <a:extLst xmlns:a="http://schemas.openxmlformats.org/drawingml/2006/main">
              <a:ext uri="{FF2B5EF4-FFF2-40B4-BE49-F238E27FC236}">
                <a16:creationId xmlns:a16="http://schemas.microsoft.com/office/drawing/2014/main" id="{13E631A9-50A7-4E5C-890A-5DFAAFF5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5334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plan-heading-4">
            <a:extLst xmlns:a="http://schemas.openxmlformats.org/drawingml/2006/main">
              <a:ext uri="{FF2B5EF4-FFF2-40B4-BE49-F238E27FC236}">
                <a16:creationId xmlns:a16="http://schemas.microsoft.com/office/drawing/2014/main" id="{74E15F4A-65EB-4A79-A52D-5995A172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576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Follow-up and when to seek help</a:t>
            </a:r>
          </a:p>
        </p:txBody>
      </p:sp>
      <p:sp>
        <p:nvSpPr>
          <p:cNvPr id="12" name="plan-area-4">
            <a:extLst xmlns:a="http://schemas.openxmlformats.org/drawingml/2006/main">
              <a:ext uri="{FF2B5EF4-FFF2-40B4-BE49-F238E27FC236}">
                <a16:creationId xmlns:a16="http://schemas.microsoft.com/office/drawing/2014/main" id="{E55FFD9F-1C7D-4C35-B734-BA8F78FC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14850"/>
            <a:ext cx="5334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910413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A6093EF7-733C-4742-9FBE-593CF15D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JUNO OPEN HEALTH TOOLS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AB167C6C-3D46-4B92-AC2C-B0C89EC8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85725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Organise.</a:t>
            </a:r>
          </a:p>
          <a:p xmlns:a="http://schemas.openxmlformats.org/drawingml/2006/main">
            <a:pPr algn="l">
              <a:defRPr sz="5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Do not diagnose.</a:t>
            </a:r>
          </a:p>
        </p:txBody>
      </p:sp>
      <p:sp>
        <p:nvSpPr>
          <p:cNvPr id="3" name="close-subtitle">
            <a:extLst xmlns:a="http://schemas.openxmlformats.org/drawingml/2006/main">
              <a:ext uri="{FF2B5EF4-FFF2-40B4-BE49-F238E27FC236}">
                <a16:creationId xmlns:a16="http://schemas.microsoft.com/office/drawing/2014/main" id="{ADF5CE23-B0A6-45AD-90ED-B65D7602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Bring only what matters for the conversation in front of you.</a:t>
            </a:r>
          </a:p>
        </p:txBody>
      </p:sp>
      <p:sp>
        <p:nvSpPr>
          <p:cNvPr id="4" name="close-safety-panel">
            <a:extLst xmlns:a="http://schemas.openxmlformats.org/drawingml/2006/main">
              <a:ext uri="{FF2B5EF4-FFF2-40B4-BE49-F238E27FC236}">
                <a16:creationId xmlns:a16="http://schemas.microsoft.com/office/drawing/2014/main" id="{E2175727-8A29-4F29-96FC-3ABE4D6C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1950"/>
            <a:ext cx="3448050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5" name="close-safety-title">
            <a:extLst xmlns:a="http://schemas.openxmlformats.org/drawingml/2006/main">
              <a:ext uri="{FF2B5EF4-FFF2-40B4-BE49-F238E27FC236}">
                <a16:creationId xmlns:a16="http://schemas.microsoft.com/office/drawing/2014/main" id="{9CF462D8-E1D2-4DD1-9DF8-A4E2A100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81050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6" name="close-safety-body">
            <a:extLst xmlns:a="http://schemas.openxmlformats.org/drawingml/2006/main">
              <a:ext uri="{FF2B5EF4-FFF2-40B4-BE49-F238E27FC236}">
                <a16:creationId xmlns:a16="http://schemas.microsoft.com/office/drawing/2014/main" id="{03B1A518-5D6E-43BD-AF4A-E17CCDAF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71600"/>
            <a:ext cx="28003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template helps organise information. It does not diagnose, recommend treatment, replace a clinician, or provide emergency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If symptoms may be urgent or life-threatening, contact local emergency services or an appropriate clinician.</a:t>
            </a:r>
          </a:p>
        </p:txBody>
      </p:sp>
      <p:sp>
        <p:nvSpPr>
          <p:cNvPr id="7" name="close-links">
            <a:extLst xmlns:a="http://schemas.openxmlformats.org/drawingml/2006/main">
              <a:ext uri="{FF2B5EF4-FFF2-40B4-BE49-F238E27FC236}">
                <a16:creationId xmlns:a16="http://schemas.microsoft.com/office/drawing/2014/main" id="{C1A5ABD3-4ED5-4403-8526-2A70EBA5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10100"/>
            <a:ext cx="2800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Open tools: github.com/MarshallBear1</a:t>
            </a:r>
          </a:p>
          <a:p xmlns:a="http://schemas.openxmlformats.org/drawingml/2006/main">
            <a:pPr algn="l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Repository: juno-open-health-tools</a:t>
            </a:r>
          </a:p>
          <a:p xmlns:a="http://schemas.openxmlformats.org/drawingml/2006/main">
            <a:pPr algn="l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DOI: 10.5281/zenodo.21729519</a:t>
            </a:r>
          </a:p>
          <a:p xmlns:a="http://schemas.openxmlformats.org/drawingml/2006/main">
            <a:pPr algn="l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MIT licensed · synthetic examples only</a:t>
            </a:r>
          </a:p>
        </p:txBody>
      </p:sp>
      <p:sp>
        <p:nvSpPr>
          <p:cNvPr id="8" name="page-08">
            <a:extLst xmlns:a="http://schemas.openxmlformats.org/drawingml/2006/main">
              <a:ext uri="{FF2B5EF4-FFF2-40B4-BE49-F238E27FC236}">
                <a16:creationId xmlns:a16="http://schemas.microsoft.com/office/drawing/2014/main" id="{88133BD1-174A-44CC-8196-651DE619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933661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2026-08-01T00:12:28.2090000Z</dcterms:created>
  <dcterms:modified xsi:type="dcterms:W3CDTF">2026-08-01T00:12:28.2090000Z</dcterms:modified>
</coreProperties>
</file>